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FF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INSTITUTE OF MANAGEMENT STUDIES, NOIDA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C6FF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 OF INFORMATION TECHNOLOGY (SOIT)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7286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F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“VIBECHECK ROOMS”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2240280"/>
            <a:ext cx="10728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Real-Time Group Mood Synchronization &amp; Collaborative Music Sharing Platform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1A1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Minor Project (BCA-508) Presentation for BCA 5th Semester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A1A1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Affiliated with Chaudhary Charan Singh University (CCSU), Meerut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280160" y="3566160"/>
            <a:ext cx="9631375" cy="2468880"/>
          </a:xfrm>
          <a:prstGeom prst="roundRect">
            <a:avLst>
              <a:gd name="adj" fmla="val 3704"/>
            </a:avLst>
          </a:prstGeom>
          <a:solidFill>
            <a:srgbClr val="15151D"/>
          </a:solidFill>
          <a:ln w="19050">
            <a:solidFill>
              <a:srgbClr val="2A2A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0" y="3794760"/>
            <a:ext cx="4206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FF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SUBMITTED BY:
</a:t>
            </a:r>
            <a:pPr indent="0" marL="0">
              <a:buNone/>
            </a:pPr>
            <a:r>
              <a:rPr lang="en-US" sz="1600" b="1" dirty="0">
                <a:solidFill>
                  <a:srgbClr val="F5F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GAURAV SINGH
</a:t>
            </a:r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University Roll No.: 240919106084
</a:t>
            </a:r>
            <a:pPr indent="0" marL="0">
              <a:buNone/>
            </a:pPr>
            <a:r>
              <a:rPr lang="en-US" sz="1100" dirty="0">
                <a:solidFill>
                  <a:srgbClr val="A1A1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BCA (Batch 2024–2027)</a:t>
            </a:r>
            <a:endParaRPr lang="en-US" sz="1050" dirty="0"/>
          </a:p>
          <a:p>
            <a:pPr indent="0" marL="0">
              <a:buNone/>
            </a:pPr>
            <a:r>
              <a:rPr lang="en-US" sz="1100" dirty="0">
                <a:solidFill>
                  <a:srgbClr val="A1A1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 of Information Technology (SOIT), IMS Noida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089904" y="3794760"/>
            <a:ext cx="18288" cy="2011680"/>
          </a:xfrm>
          <a:prstGeom prst="rect">
            <a:avLst/>
          </a:prstGeom>
          <a:solidFill>
            <a:srgbClr val="2A2A38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0" y="3794760"/>
            <a:ext cx="4206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4D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UNDER GUIDANCE OF:
</a:t>
            </a:r>
            <a:pPr indent="0" marL="0">
              <a:buNone/>
            </a:pPr>
            <a:r>
              <a:rPr lang="en-US" sz="1400" b="1" dirty="0">
                <a:solidFill>
                  <a:srgbClr val="F5F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 of Information Technology
</a:t>
            </a:r>
            <a:pPr indent="0" marL="0">
              <a:buNone/>
            </a:pPr>
            <a:r>
              <a:rPr lang="en-US" sz="1150" dirty="0">
                <a:solidFill>
                  <a:srgbClr val="F5F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HOD: Ms. Monika Dixit Bajpai
</a:t>
            </a:r>
            <a:pPr indent="0" marL="0">
              <a:buNone/>
            </a:pPr>
            <a:r>
              <a:rPr lang="en-US" sz="1100" dirty="0">
                <a:solidFill>
                  <a:srgbClr val="A1A1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Coordinators: Mr. Anushrav Mudgal, Mr. Nihal Kumar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6FF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BCA-508 MINOR PROJECT PRESENTATION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5F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Introduction &amp; Problem Statement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10728655" cy="18288"/>
          </a:xfrm>
          <a:prstGeom prst="rect">
            <a:avLst/>
          </a:prstGeom>
          <a:solidFill>
            <a:srgbClr val="2A2A3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3550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VibeCheck Rooms • Gaurav Singh (Roll No. 240919106084) • IMS Noida (CCSU)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0" y="6355080"/>
            <a:ext cx="2773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 of 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371600"/>
            <a:ext cx="5212080" cy="4754880"/>
          </a:xfrm>
          <a:prstGeom prst="roundRect">
            <a:avLst>
              <a:gd name="adj" fmla="val 1923"/>
            </a:avLst>
          </a:prstGeom>
          <a:solidFill>
            <a:srgbClr val="15151D"/>
          </a:solidFill>
          <a:ln w="19050">
            <a:solidFill>
              <a:srgbClr val="2A2A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6002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4D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 in Modern Friend Groups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2011680"/>
            <a:ext cx="46634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5F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Busy Group Chat Chaos:
</a:t>
            </a:r>
            <a:pPr indent="0" marL="0">
              <a:buNone/>
            </a:pPr>
            <a:r>
              <a:rPr lang="en-US" sz="1100" dirty="0">
                <a:solidFill>
                  <a:srgbClr val="A1A1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Mood updates and song recommendations get buried under hundreds of messages within minutes in WhatsApp/Discord.
</a:t>
            </a:r>
            <a:pPr indent="0" marL="0">
              <a:buNone/>
            </a:pPr>
            <a:r>
              <a:rPr lang="en-US" sz="1200" b="1" dirty="0">
                <a:solidFill>
                  <a:srgbClr val="F5F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Proprietary Algorithm Barriers:
</a:t>
            </a:r>
            <a:pPr indent="0" marL="0">
              <a:buNone/>
            </a:pPr>
            <a:r>
              <a:rPr lang="en-US" sz="1100" dirty="0">
                <a:solidFill>
                  <a:srgbClr val="A1A1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Services like Spotify Blend depend on private streaming history and fail to capture how people feel on a specific day.
</a:t>
            </a:r>
            <a:pPr indent="0" marL="0">
              <a:buNone/>
            </a:pPr>
            <a:r>
              <a:rPr lang="en-US" sz="1200" b="1" dirty="0">
                <a:solidFill>
                  <a:srgbClr val="F5F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Absence of Lightweight Spaces:
</a:t>
            </a:r>
            <a:pPr indent="0" marL="0">
              <a:buNone/>
            </a:pPr>
            <a:r>
              <a:rPr lang="en-US" sz="1100" dirty="0">
                <a:solidFill>
                  <a:srgbClr val="A1A1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free, cross-platform space exists where friends can combine self-reported mood with music in under 15 seconds.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48095" y="1371600"/>
            <a:ext cx="5212080" cy="4754880"/>
          </a:xfrm>
          <a:prstGeom prst="roundRect">
            <a:avLst>
              <a:gd name="adj" fmla="val 1923"/>
            </a:avLst>
          </a:prstGeom>
          <a:solidFill>
            <a:srgbClr val="15151D"/>
          </a:solidFill>
          <a:ln w="19050">
            <a:solidFill>
              <a:srgbClr val="2A2A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22415" y="16002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FF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VibeCheck Rooms Solution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22415" y="2011680"/>
            <a:ext cx="46634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5F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Private Invite-Only Rooms:
</a:t>
            </a:r>
            <a:pPr indent="0" marL="0">
              <a:buNone/>
            </a:pPr>
            <a:r>
              <a:rPr lang="en-US" sz="1100" dirty="0">
                <a:solidFill>
                  <a:srgbClr val="A1A1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Users create rooms and invite friends using an unambiguous 6-character room code with zero phone-number leaks.
</a:t>
            </a:r>
            <a:pPr indent="0" marL="0">
              <a:buNone/>
            </a:pPr>
            <a:r>
              <a:rPr lang="en-US" sz="1200" b="1" dirty="0">
                <a:solidFill>
                  <a:srgbClr val="F5F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Quick Daily Check-In:
</a:t>
            </a:r>
            <a:pPr indent="0" marL="0">
              <a:buNone/>
            </a:pPr>
            <a:r>
              <a:rPr lang="en-US" sz="1100" dirty="0">
                <a:solidFill>
                  <a:srgbClr val="A1A1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Choose 1 of 8 moods, set energy (1-5), write an optional 80-char note, and attach up to 3 songs.
</a:t>
            </a:r>
            <a:pPr indent="0" marL="0">
              <a:buNone/>
            </a:pPr>
            <a:r>
              <a:rPr lang="en-US" sz="1200" b="1" dirty="0">
                <a:solidFill>
                  <a:srgbClr val="F5F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Collective Group Vibe Score (0-100):
</a:t>
            </a:r>
            <a:pPr indent="0" marL="0">
              <a:buNone/>
            </a:pPr>
            <a:r>
              <a:rPr lang="en-US" sz="1100" dirty="0">
                <a:solidFill>
                  <a:srgbClr val="A1A1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transparent mathematical algorithm calculates the room’s vibe score, dominant mood, and auto-builds a shared playlist.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6FF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BCA-508 MINOR PROJECT PRESENTATION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5F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Objectives &amp; Scope of the Project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10728655" cy="18288"/>
          </a:xfrm>
          <a:prstGeom prst="rect">
            <a:avLst/>
          </a:prstGeom>
          <a:solidFill>
            <a:srgbClr val="2A2A3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3550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VibeCheck Rooms • Gaurav Singh (Roll No. 240919106084) • IMS Noida (CCSU)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0" y="6355080"/>
            <a:ext cx="2773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 of 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417320"/>
            <a:ext cx="10728655" cy="804672"/>
          </a:xfrm>
          <a:prstGeom prst="roundRect">
            <a:avLst>
              <a:gd name="adj" fmla="val 9091"/>
            </a:avLst>
          </a:prstGeom>
          <a:solidFill>
            <a:srgbClr val="15151D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5544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6FF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00200" y="1581912"/>
            <a:ext cx="18288" cy="475488"/>
          </a:xfrm>
          <a:prstGeom prst="rect">
            <a:avLst/>
          </a:prstGeom>
          <a:solidFill>
            <a:srgbClr val="2A2A38"/>
          </a:solidFill>
          <a:ln/>
        </p:spPr>
      </p:sp>
      <p:sp>
        <p:nvSpPr>
          <p:cNvPr id="10" name="Text 8"/>
          <p:cNvSpPr/>
          <p:nvPr/>
        </p:nvSpPr>
        <p:spPr>
          <a:xfrm>
            <a:off x="1783080" y="1527048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Seamless Room Creation &amp; Access Control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783080" y="1847088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Allow users to register securely, create rooms with unique 6-character codes, and manage members.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350008"/>
            <a:ext cx="10728655" cy="804672"/>
          </a:xfrm>
          <a:prstGeom prst="roundRect">
            <a:avLst>
              <a:gd name="adj" fmla="val 9091"/>
            </a:avLst>
          </a:prstGeom>
          <a:solidFill>
            <a:srgbClr val="15151D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48716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6FF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600200" y="2514600"/>
            <a:ext cx="18288" cy="475488"/>
          </a:xfrm>
          <a:prstGeom prst="rect">
            <a:avLst/>
          </a:prstGeom>
          <a:solidFill>
            <a:srgbClr val="2A2A38"/>
          </a:solidFill>
          <a:ln/>
        </p:spPr>
      </p:sp>
      <p:sp>
        <p:nvSpPr>
          <p:cNvPr id="15" name="Text 13"/>
          <p:cNvSpPr/>
          <p:nvPr/>
        </p:nvSpPr>
        <p:spPr>
          <a:xfrm>
            <a:off x="1783080" y="2459736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Low-Friction 15-Second Check-In Flow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783080" y="2779776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Enable quick mood selection (8 moods), energy ratings (1-5), optional notes, and up to 3 song attachments.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3282696"/>
            <a:ext cx="10728655" cy="804672"/>
          </a:xfrm>
          <a:prstGeom prst="roundRect">
            <a:avLst>
              <a:gd name="adj" fmla="val 9091"/>
            </a:avLst>
          </a:prstGeom>
          <a:solidFill>
            <a:srgbClr val="15151D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419856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6FF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600200" y="3447288"/>
            <a:ext cx="18288" cy="475488"/>
          </a:xfrm>
          <a:prstGeom prst="rect">
            <a:avLst/>
          </a:prstGeom>
          <a:solidFill>
            <a:srgbClr val="2A2A38"/>
          </a:solidFill>
          <a:ln/>
        </p:spPr>
      </p:sp>
      <p:sp>
        <p:nvSpPr>
          <p:cNvPr id="20" name="Text 18"/>
          <p:cNvSpPr/>
          <p:nvPr/>
        </p:nvSpPr>
        <p:spPr>
          <a:xfrm>
            <a:off x="1783080" y="3392424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Transparent Mathematical Vibe Engine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783080" y="3712464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Compute rolling 24-hour Group Vibe Score (0-100), dominant room mood, and mood-mix distribution.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" y="4215384"/>
            <a:ext cx="10728655" cy="804672"/>
          </a:xfrm>
          <a:prstGeom prst="roundRect">
            <a:avLst>
              <a:gd name="adj" fmla="val 9091"/>
            </a:avLst>
          </a:prstGeom>
          <a:solidFill>
            <a:srgbClr val="15151D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352544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6FF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600200" y="4379976"/>
            <a:ext cx="18288" cy="475488"/>
          </a:xfrm>
          <a:prstGeom prst="rect">
            <a:avLst/>
          </a:prstGeom>
          <a:solidFill>
            <a:srgbClr val="2A2A38"/>
          </a:solidFill>
          <a:ln/>
        </p:spPr>
      </p:sp>
      <p:sp>
        <p:nvSpPr>
          <p:cNvPr id="25" name="Text 23"/>
          <p:cNvSpPr/>
          <p:nvPr/>
        </p:nvSpPr>
        <p:spPr>
          <a:xfrm>
            <a:off x="1783080" y="4325112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Collaborative Music Curation &amp; Moderation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783080" y="4645152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Aggregate members’ music into a shared playlist and provide admin controls to moderate content and members.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31520" y="5148072"/>
            <a:ext cx="10728655" cy="804672"/>
          </a:xfrm>
          <a:prstGeom prst="roundRect">
            <a:avLst>
              <a:gd name="adj" fmla="val 9091"/>
            </a:avLst>
          </a:prstGeom>
          <a:solidFill>
            <a:srgbClr val="15151D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528523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6FF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600200" y="5312664"/>
            <a:ext cx="18288" cy="475488"/>
          </a:xfrm>
          <a:prstGeom prst="rect">
            <a:avLst/>
          </a:prstGeom>
          <a:solidFill>
            <a:srgbClr val="2A2A38"/>
          </a:solidFill>
          <a:ln/>
        </p:spPr>
      </p:sp>
      <p:sp>
        <p:nvSpPr>
          <p:cNvPr id="30" name="Text 28"/>
          <p:cNvSpPr/>
          <p:nvPr/>
        </p:nvSpPr>
        <p:spPr>
          <a:xfrm>
            <a:off x="1783080" y="5257800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Zero-Cost Cloud Deployment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783080" y="5577840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Host production frontend on Vercel/GitHub Pages, REST API on Render, and PostgreSQL on Supabase at Rs. 0 cost.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6FF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BCA-508 MINOR PROJECT PRESENTATION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5F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Three-Tier System Architecture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10728655" cy="18288"/>
          </a:xfrm>
          <a:prstGeom prst="rect">
            <a:avLst/>
          </a:prstGeom>
          <a:solidFill>
            <a:srgbClr val="2A2A3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3550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VibeCheck Rooms • Gaurav Singh (Roll No. 240919106084) • IMS Noida (CCSU)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0" y="6355080"/>
            <a:ext cx="2773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4 of 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371600"/>
            <a:ext cx="3364992" cy="4754880"/>
          </a:xfrm>
          <a:prstGeom prst="roundRect">
            <a:avLst>
              <a:gd name="adj" fmla="val 2717"/>
            </a:avLst>
          </a:prstGeom>
          <a:solidFill>
            <a:srgbClr val="15151D"/>
          </a:solidFill>
          <a:ln w="22860">
            <a:solidFill>
              <a:srgbClr val="22D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600200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TIER 1: PRESENTATION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60120" y="1901952"/>
            <a:ext cx="2907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 Application (SPA)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2331720"/>
            <a:ext cx="2907792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5F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React 19 + Vite:
</a:t>
            </a:r>
            <a:pPr indent="0" marL="0">
              <a:buNone/>
            </a:pPr>
            <a:r>
              <a:rPr lang="en-US" sz="1050" dirty="0">
                <a:solidFill>
                  <a:srgbClr val="A1A1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High-performance Single Page Application.
</a:t>
            </a:r>
            <a:pPr indent="0" marL="0">
              <a:buNone/>
            </a:pPr>
            <a:r>
              <a:rPr lang="en-US" sz="1150" b="1" dirty="0">
                <a:solidFill>
                  <a:srgbClr val="F5F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Tailwind CSS v4:
</a:t>
            </a:r>
            <a:pPr indent="0" marL="0">
              <a:buNone/>
            </a:pPr>
            <a:r>
              <a:rPr lang="en-US" sz="1050" dirty="0">
                <a:solidFill>
                  <a:srgbClr val="A1A1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Dark-theme design system with custom mood palette.
</a:t>
            </a:r>
            <a:pPr indent="0" marL="0">
              <a:buNone/>
            </a:pPr>
            <a:r>
              <a:rPr lang="en-US" sz="1150" b="1" dirty="0">
                <a:solidFill>
                  <a:srgbClr val="F5F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Client State &amp; Polling:
</a:t>
            </a:r>
            <a:pPr indent="0" marL="0">
              <a:buNone/>
            </a:pPr>
            <a:r>
              <a:rPr lang="en-US" sz="1050" dirty="0">
                <a:solidFill>
                  <a:srgbClr val="A1A1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20-second polling for real-time room updates.
</a:t>
            </a:r>
            <a:pPr indent="0" marL="0">
              <a:buNone/>
            </a:pPr>
            <a:r>
              <a:rPr lang="en-US" sz="1150" b="1" dirty="0">
                <a:solidFill>
                  <a:srgbClr val="F5F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Deployment:
</a:t>
            </a:r>
            <a:pPr indent="0" marL="0">
              <a:buNone/>
            </a:pPr>
            <a:r>
              <a:rPr lang="en-US" sz="1050" dirty="0">
                <a:solidFill>
                  <a:srgbClr val="A1A1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Vercel / GitHub Pages Global CDN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407408" y="1371600"/>
            <a:ext cx="3364992" cy="4754880"/>
          </a:xfrm>
          <a:prstGeom prst="roundRect">
            <a:avLst>
              <a:gd name="adj" fmla="val 2717"/>
            </a:avLst>
          </a:prstGeom>
          <a:solidFill>
            <a:srgbClr val="15151D"/>
          </a:solidFill>
          <a:ln w="22860">
            <a:solidFill>
              <a:srgbClr val="C6FF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36008" y="1600200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FF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TIER 2: APPLICATION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636008" y="1901952"/>
            <a:ext cx="2907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Express 5 REST API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36008" y="2331720"/>
            <a:ext cx="2907792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5F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Node.js 20/24 Runtime:
</a:t>
            </a:r>
            <a:pPr indent="0" marL="0">
              <a:buNone/>
            </a:pPr>
            <a:r>
              <a:rPr lang="en-US" sz="1050" dirty="0">
                <a:solidFill>
                  <a:srgbClr val="A1A1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Asynchronous event-driven REST API server.
</a:t>
            </a:r>
            <a:pPr indent="0" marL="0">
              <a:buNone/>
            </a:pPr>
            <a:r>
              <a:rPr lang="en-US" sz="1150" b="1" dirty="0">
                <a:solidFill>
                  <a:srgbClr val="F5F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Pure Vibe Score Engine:
</a:t>
            </a:r>
            <a:pPr indent="0" marL="0">
              <a:buNone/>
            </a:pPr>
            <a:r>
              <a:rPr lang="en-US" sz="1050" dirty="0">
                <a:solidFill>
                  <a:srgbClr val="A1A1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Deterministic business logic with unit test coverage.
</a:t>
            </a:r>
            <a:pPr indent="0" marL="0">
              <a:buNone/>
            </a:pPr>
            <a:r>
              <a:rPr lang="en-US" sz="1150" b="1" dirty="0">
                <a:solidFill>
                  <a:srgbClr val="F5F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Security Middleware:
</a:t>
            </a:r>
            <a:pPr indent="0" marL="0">
              <a:buNone/>
            </a:pPr>
            <a:r>
              <a:rPr lang="en-US" sz="1050" dirty="0">
                <a:solidFill>
                  <a:srgbClr val="A1A1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Helmet security headers, CORS filtering &amp; rate limiting.
</a:t>
            </a:r>
            <a:pPr indent="0" marL="0">
              <a:buNone/>
            </a:pPr>
            <a:r>
              <a:rPr lang="en-US" sz="1150" b="1" dirty="0">
                <a:solidFill>
                  <a:srgbClr val="F5F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Deployment:
</a:t>
            </a:r>
            <a:pPr indent="0" marL="0">
              <a:buNone/>
            </a:pPr>
            <a:r>
              <a:rPr lang="en-US" sz="1050" dirty="0">
                <a:solidFill>
                  <a:srgbClr val="A1A1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Render Cloud Web Service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92440" y="1371600"/>
            <a:ext cx="3364992" cy="4754880"/>
          </a:xfrm>
          <a:prstGeom prst="roundRect">
            <a:avLst>
              <a:gd name="adj" fmla="val 2717"/>
            </a:avLst>
          </a:prstGeom>
          <a:solidFill>
            <a:srgbClr val="15151D"/>
          </a:solidFill>
          <a:ln w="22860">
            <a:solidFill>
              <a:srgbClr val="FF4D8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0" y="1600200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4D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TIER 3: DATA TIER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321040" y="1901952"/>
            <a:ext cx="2907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Supabase PostgreSQL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21040" y="2331720"/>
            <a:ext cx="2907792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5F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Relational PostgreSQL DB:
</a:t>
            </a:r>
            <a:pPr indent="0" marL="0">
              <a:buNone/>
            </a:pPr>
            <a:r>
              <a:rPr lang="en-US" sz="1050" dirty="0">
                <a:solidFill>
                  <a:srgbClr val="A1A1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tables in 3rd Normal Form (3NF) with constraints.
</a:t>
            </a:r>
            <a:pPr indent="0" marL="0">
              <a:buNone/>
            </a:pPr>
            <a:r>
              <a:rPr lang="en-US" sz="1150" b="1" dirty="0">
                <a:solidFill>
                  <a:srgbClr val="F5F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Atomic Transactions:
</a:t>
            </a:r>
            <a:pPr indent="0" marL="0">
              <a:buNone/>
            </a:pPr>
            <a:r>
              <a:rPr lang="en-US" sz="1050" dirty="0">
                <a:solidFill>
                  <a:srgbClr val="A1A1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PL/pgSQL RPC function saves checkin &amp; songs together.
</a:t>
            </a:r>
            <a:pPr indent="0" marL="0">
              <a:buNone/>
            </a:pPr>
            <a:r>
              <a:rPr lang="en-US" sz="1150" b="1" dirty="0">
                <a:solidFill>
                  <a:srgbClr val="F5F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Row Level Security (RLS):
</a:t>
            </a:r>
            <a:pPr indent="0" marL="0">
              <a:buNone/>
            </a:pPr>
            <a:r>
              <a:rPr lang="en-US" sz="1050" dirty="0">
                <a:solidFill>
                  <a:srgbClr val="A1A1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Deny-by-default access policies &amp; JWT verification.
</a:t>
            </a:r>
            <a:pPr indent="0" marL="0">
              <a:buNone/>
            </a:pPr>
            <a:r>
              <a:rPr lang="en-US" sz="1150" b="1" dirty="0">
                <a:solidFill>
                  <a:srgbClr val="F5F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Deployment:
</a:t>
            </a:r>
            <a:pPr indent="0" marL="0">
              <a:buNone/>
            </a:pPr>
            <a:r>
              <a:rPr lang="en-US" sz="1050" dirty="0">
                <a:solidFill>
                  <a:srgbClr val="A1A1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Supabase Managed Cloud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6FF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BCA-508 MINOR PROJECT PRESENTATION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5F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User Flow &amp; Core Transaction: Mood Check-in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10728655" cy="18288"/>
          </a:xfrm>
          <a:prstGeom prst="rect">
            <a:avLst/>
          </a:prstGeom>
          <a:solidFill>
            <a:srgbClr val="2A2A3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3550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VibeCheck Rooms • Gaurav Singh (Roll No. 240919106084) • IMS Noida (CCSU)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0" y="6355080"/>
            <a:ext cx="2773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5 of 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371600"/>
            <a:ext cx="2029968" cy="1920240"/>
          </a:xfrm>
          <a:prstGeom prst="roundRect">
            <a:avLst>
              <a:gd name="adj" fmla="val 3810"/>
            </a:avLst>
          </a:prstGeom>
          <a:solidFill>
            <a:srgbClr val="15151D"/>
          </a:solidFill>
          <a:ln w="15240">
            <a:solidFill>
              <a:srgbClr val="2A2A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508760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FF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1783080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Authenticate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68680" y="2176272"/>
            <a:ext cx="17556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1A1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logs in or uses demo reviewer account. JWT issued.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907792" y="1371600"/>
            <a:ext cx="2029968" cy="1920240"/>
          </a:xfrm>
          <a:prstGeom prst="roundRect">
            <a:avLst>
              <a:gd name="adj" fmla="val 3810"/>
            </a:avLst>
          </a:prstGeom>
          <a:solidFill>
            <a:srgbClr val="15151D"/>
          </a:solidFill>
          <a:ln w="15240">
            <a:solidFill>
              <a:srgbClr val="2A2A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44952" y="1508760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FF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044952" y="1783080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Access Room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044952" y="2176272"/>
            <a:ext cx="17556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1A1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room or enter 6-character code. Membership validated.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84064" y="1371600"/>
            <a:ext cx="2029968" cy="1920240"/>
          </a:xfrm>
          <a:prstGeom prst="roundRect">
            <a:avLst>
              <a:gd name="adj" fmla="val 3810"/>
            </a:avLst>
          </a:prstGeom>
          <a:solidFill>
            <a:srgbClr val="15151D"/>
          </a:solidFill>
          <a:ln w="15240">
            <a:solidFill>
              <a:srgbClr val="2A2A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21224" y="1508760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FF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221224" y="1783080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Form Input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221224" y="2176272"/>
            <a:ext cx="17556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1A1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 1 of 8 moods, set energy (1-5), optional note &amp; 0-3 songs.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260336" y="1371600"/>
            <a:ext cx="2029968" cy="1920240"/>
          </a:xfrm>
          <a:prstGeom prst="roundRect">
            <a:avLst>
              <a:gd name="adj" fmla="val 3810"/>
            </a:avLst>
          </a:prstGeom>
          <a:solidFill>
            <a:srgbClr val="15151D"/>
          </a:solidFill>
          <a:ln w="15240">
            <a:solidFill>
              <a:srgbClr val="2A2A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97496" y="1508760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FF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04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397496" y="1783080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Atomic Save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397496" y="2176272"/>
            <a:ext cx="17556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1A1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 request invokes RPC function; checkin &amp; songs saved atomically.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436608" y="1371600"/>
            <a:ext cx="2029968" cy="1920240"/>
          </a:xfrm>
          <a:prstGeom prst="roundRect">
            <a:avLst>
              <a:gd name="adj" fmla="val 3810"/>
            </a:avLst>
          </a:prstGeom>
          <a:solidFill>
            <a:srgbClr val="15151D"/>
          </a:solidFill>
          <a:ln w="15240">
            <a:solidFill>
              <a:srgbClr val="2A2A3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573768" y="1508760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FF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05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573768" y="1783080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Vibe Update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573768" y="2176272"/>
            <a:ext cx="17556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1A1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Vibe engine recalculates score; dashboard, chart &amp; playlist refresh.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31520" y="3520440"/>
            <a:ext cx="10728655" cy="2606040"/>
          </a:xfrm>
          <a:prstGeom prst="roundRect">
            <a:avLst>
              <a:gd name="adj" fmla="val 3509"/>
            </a:avLst>
          </a:prstGeom>
          <a:solidFill>
            <a:srgbClr val="15151D"/>
          </a:solidFill>
          <a:ln w="19050">
            <a:solidFill>
              <a:srgbClr val="2A2A3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5840" y="3703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Transactional Guarantees &amp; Constraints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05840" y="4114800"/>
            <a:ext cx="1014984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5F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Rolling 24-Hour Scope: </a:t>
            </a:r>
            <a:pPr indent="0" marL="0">
              <a:buNone/>
            </a:pPr>
            <a:r>
              <a:rPr lang="en-US" sz="1100" dirty="0">
                <a:solidFill>
                  <a:srgbClr val="A1A1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the single latest check-in per member within the last 24 hours counts towards the score. Stale check-ins expire automatically.
</a:t>
            </a:r>
            <a:pPr indent="0" marL="0">
              <a:buNone/>
            </a:pPr>
            <a:r>
              <a:rPr lang="en-US" sz="1200" b="1" dirty="0">
                <a:solidFill>
                  <a:srgbClr val="F5F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All-or-Nothing Integrity: </a:t>
            </a:r>
            <a:pPr indent="0" marL="0">
              <a:buNone/>
            </a:pPr>
            <a:r>
              <a:rPr lang="en-US" sz="1100" dirty="0">
                <a:solidFill>
                  <a:srgbClr val="A1A1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Postgres RPC function ensures check-ins and songs cannot be partially inserted; if any query fails, the transaction rolls back cleanly.
</a:t>
            </a:r>
            <a:pPr indent="0" marL="0">
              <a:buNone/>
            </a:pPr>
            <a:r>
              <a:rPr lang="en-US" sz="1200" b="1" dirty="0">
                <a:solidFill>
                  <a:srgbClr val="F5F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Immediate Client Feedback: </a:t>
            </a:r>
            <a:pPr indent="0" marL="0">
              <a:buNone/>
            </a:pPr>
            <a:r>
              <a:rPr lang="en-US" sz="1100" dirty="0">
                <a:solidFill>
                  <a:srgbClr val="A1A1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check-in endpoint returns the updated vibe score payload directly, allowing instant reactive UI updates without a full page reload.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6FF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BCA-508 MINOR PROJECT PRESENTATION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5F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Data Flow Diagrams (DFD Hierarchy)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10728655" cy="18288"/>
          </a:xfrm>
          <a:prstGeom prst="rect">
            <a:avLst/>
          </a:prstGeom>
          <a:solidFill>
            <a:srgbClr val="2A2A3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3550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VibeCheck Rooms • Gaurav Singh (Roll No. 240919106084) • IMS Noida (CCSU)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0" y="6355080"/>
            <a:ext cx="2773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6 of 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371600"/>
            <a:ext cx="3364992" cy="4754880"/>
          </a:xfrm>
          <a:prstGeom prst="roundRect">
            <a:avLst>
              <a:gd name="adj" fmla="val 2717"/>
            </a:avLst>
          </a:prstGeom>
          <a:solidFill>
            <a:srgbClr val="15151D"/>
          </a:solidFill>
          <a:ln w="19050">
            <a:solidFill>
              <a:srgbClr val="2A2A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600200"/>
            <a:ext cx="2907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FF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DFD Level 0 (Context)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1965960"/>
            <a:ext cx="2907792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5F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External Entities:
</a:t>
            </a:r>
            <a:pPr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Member
2. Room Admin
</a:t>
            </a:r>
            <a:pPr indent="0" marL="0">
              <a:buNone/>
            </a:pPr>
            <a:r>
              <a:rPr lang="en-US" sz="1150" b="1" dirty="0">
                <a:solidFill>
                  <a:srgbClr val="F5F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Inputs from Member:
</a:t>
            </a:r>
            <a:pPr indent="0" marL="0">
              <a:buNone/>
            </a:pPr>
            <a:r>
              <a:rPr lang="en-US" sz="1050" dirty="0">
                <a:solidFill>
                  <a:srgbClr val="A1A1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 details, room create/join, mood check-in &amp; songs.
</a:t>
            </a:r>
            <a:pPr indent="0" marL="0">
              <a:buNone/>
            </a:pPr>
            <a:r>
              <a:rPr lang="en-US" sz="1150" b="1" dirty="0">
                <a:solidFill>
                  <a:srgbClr val="F5F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Inputs from Admin:
</a:t>
            </a:r>
            <a:pPr indent="0" marL="0">
              <a:buNone/>
            </a:pPr>
            <a:r>
              <a:rPr lang="en-US" sz="1050" dirty="0">
                <a:solidFill>
                  <a:srgbClr val="A1A1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Moderation actions, code regeneration, close room.
</a:t>
            </a:r>
            <a:pPr indent="0" marL="0">
              <a:buNone/>
            </a:pPr>
            <a:r>
              <a:rPr lang="en-US" sz="1150" b="1" dirty="0">
                <a:solidFill>
                  <a:srgbClr val="F5F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Outputs to User:
</a:t>
            </a:r>
            <a:pPr indent="0" marL="0">
              <a:buNone/>
            </a:pPr>
            <a:r>
              <a:rPr lang="en-US" sz="1050" dirty="0">
                <a:solidFill>
                  <a:srgbClr val="A1A1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Vibe score, dominant mood, mood-mix chart &amp; shared playlist.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07408" y="1371600"/>
            <a:ext cx="3364992" cy="4754880"/>
          </a:xfrm>
          <a:prstGeom prst="roundRect">
            <a:avLst>
              <a:gd name="adj" fmla="val 2717"/>
            </a:avLst>
          </a:prstGeom>
          <a:solidFill>
            <a:srgbClr val="15151D"/>
          </a:solidFill>
          <a:ln w="19050">
            <a:solidFill>
              <a:srgbClr val="2A2A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36008" y="1600200"/>
            <a:ext cx="2907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DFD Level 1 (Subsystems)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36008" y="1965960"/>
            <a:ext cx="2907792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5F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1.0 Authentication:
</a:t>
            </a:r>
            <a:pPr indent="0" marL="0">
              <a:buNone/>
            </a:pPr>
            <a:r>
              <a:rPr lang="en-US" sz="1050" dirty="0">
                <a:solidFill>
                  <a:srgbClr val="A1A1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Registers/logs in users; writes to D1 Profiles.
</a:t>
            </a:r>
            <a:pPr indent="0" marL="0">
              <a:buNone/>
            </a:pPr>
            <a:r>
              <a:rPr lang="en-US" sz="1150" b="1" dirty="0">
                <a:solidFill>
                  <a:srgbClr val="F5F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2.0 Room Management:
</a:t>
            </a:r>
            <a:pPr indent="0" marL="0">
              <a:buNone/>
            </a:pPr>
            <a:r>
              <a:rPr lang="en-US" sz="1050" dirty="0">
                <a:solidFill>
                  <a:srgbClr val="A1A1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Generates codes &amp; links members; stores in D2.
</a:t>
            </a:r>
            <a:pPr indent="0" marL="0">
              <a:buNone/>
            </a:pPr>
            <a:r>
              <a:rPr lang="en-US" sz="1150" b="1" dirty="0">
                <a:solidFill>
                  <a:srgbClr val="F5F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3.0 Check-in &amp; Songs:
</a:t>
            </a:r>
            <a:pPr indent="0" marL="0">
              <a:buNone/>
            </a:pPr>
            <a:r>
              <a:rPr lang="en-US" sz="1050" dirty="0">
                <a:solidFill>
                  <a:srgbClr val="A1A1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Validates &amp; writes records to D3 &amp; D4.
</a:t>
            </a:r>
            <a:pPr indent="0" marL="0">
              <a:buNone/>
            </a:pPr>
            <a:r>
              <a:rPr lang="en-US" sz="1150" b="1" dirty="0">
                <a:solidFill>
                  <a:srgbClr val="F5F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4.0 Vibe Calculation:
</a:t>
            </a:r>
            <a:pPr indent="0" marL="0">
              <a:buNone/>
            </a:pPr>
            <a:r>
              <a:rPr lang="en-US" sz="1050" dirty="0">
                <a:solidFill>
                  <a:srgbClr val="A1A1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Aggregates checkins to compute score &amp; mix.
</a:t>
            </a:r>
            <a:pPr indent="0" marL="0">
              <a:buNone/>
            </a:pPr>
            <a:r>
              <a:rPr lang="en-US" sz="1150" b="1" dirty="0">
                <a:solidFill>
                  <a:srgbClr val="F5F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5.0 Admin Moderation:
</a:t>
            </a:r>
            <a:pPr indent="0" marL="0">
              <a:buNone/>
            </a:pPr>
            <a:r>
              <a:rPr lang="en-US" sz="1050" dirty="0">
                <a:solidFill>
                  <a:srgbClr val="A1A1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Manages memberships and room lifecycle.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92440" y="1371600"/>
            <a:ext cx="3364992" cy="4754880"/>
          </a:xfrm>
          <a:prstGeom prst="roundRect">
            <a:avLst>
              <a:gd name="adj" fmla="val 2717"/>
            </a:avLst>
          </a:prstGeom>
          <a:solidFill>
            <a:srgbClr val="15151D"/>
          </a:solidFill>
          <a:ln w="19050">
            <a:solidFill>
              <a:srgbClr val="2A2A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1600200"/>
            <a:ext cx="2907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4D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DFD Level 2 (Check-in)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21040" y="1965960"/>
            <a:ext cx="2907792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5F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3.1 Session &amp; Membership:
</a:t>
            </a:r>
            <a:pPr indent="0" marL="0">
              <a:buNone/>
            </a:pPr>
            <a:r>
              <a:rPr lang="en-US" sz="1050" dirty="0">
                <a:solidFill>
                  <a:srgbClr val="A1A1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Verifies bearer JWT &amp; active room membership.
</a:t>
            </a:r>
            <a:pPr indent="0" marL="0">
              <a:buNone/>
            </a:pPr>
            <a:r>
              <a:rPr lang="en-US" sz="1150" b="1" dirty="0">
                <a:solidFill>
                  <a:srgbClr val="F5F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3.2 Schema Validation:
</a:t>
            </a:r>
            <a:pPr indent="0" marL="0">
              <a:buNone/>
            </a:pPr>
            <a:r>
              <a:rPr lang="en-US" sz="1050" dirty="0">
                <a:solidFill>
                  <a:srgbClr val="A1A1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Checks mood enum, energy range (1-5), ≤80 chars note, and ≤3 songs.
</a:t>
            </a:r>
            <a:pPr indent="0" marL="0">
              <a:buNone/>
            </a:pPr>
            <a:r>
              <a:rPr lang="en-US" sz="1150" b="1" dirty="0">
                <a:solidFill>
                  <a:srgbClr val="F5F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3.3 / 3.4 Atomic Insertion:
</a:t>
            </a:r>
            <a:pPr indent="0" marL="0">
              <a:buNone/>
            </a:pPr>
            <a:r>
              <a:rPr lang="en-US" sz="1050" dirty="0">
                <a:solidFill>
                  <a:srgbClr val="A1A1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Inserts 1 checkin row and up to 3 song rows.
</a:t>
            </a:r>
            <a:pPr indent="0" marL="0">
              <a:buNone/>
            </a:pPr>
            <a:r>
              <a:rPr lang="en-US" sz="1150" b="1" dirty="0">
                <a:solidFill>
                  <a:srgbClr val="F5F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3.5 Recalculate Vibe Score:
</a:t>
            </a:r>
            <a:pPr indent="0" marL="0">
              <a:buNone/>
            </a:pPr>
            <a:r>
              <a:rPr lang="en-US" sz="1050" dirty="0">
                <a:solidFill>
                  <a:srgbClr val="A1A1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Re-evaluates 24h score &amp; triggers UI refresh.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6FF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BCA-508 MINOR PROJECT PRESENTATION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5F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Entity Relationship Diagram (ERD &amp; 3NF)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10728655" cy="18288"/>
          </a:xfrm>
          <a:prstGeom prst="rect">
            <a:avLst/>
          </a:prstGeom>
          <a:solidFill>
            <a:srgbClr val="2A2A3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3550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VibeCheck Rooms • Gaurav Singh (Roll No. 240919106084) • IMS Noida (CCSU)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0" y="6355080"/>
            <a:ext cx="2773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7 of 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417320"/>
            <a:ext cx="10728655" cy="749808"/>
          </a:xfrm>
          <a:prstGeom prst="roundRect">
            <a:avLst>
              <a:gd name="adj" fmla="val 9756"/>
            </a:avLst>
          </a:prstGeom>
          <a:solidFill>
            <a:srgbClr val="15151D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5544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F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profiles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0" y="1554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PK: id (UUID)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09360" y="15544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display_name, email, avatar_color, created_at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2276856"/>
            <a:ext cx="10728655" cy="749808"/>
          </a:xfrm>
          <a:prstGeom prst="roundRect">
            <a:avLst>
              <a:gd name="adj" fmla="val 9756"/>
            </a:avLst>
          </a:prstGeom>
          <a:solidFill>
            <a:srgbClr val="15151D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241401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F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00400" y="241401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PK: id | FK: created_by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09360" y="241401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name, room_code (UK), is_active, created_at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3136392"/>
            <a:ext cx="10728655" cy="749808"/>
          </a:xfrm>
          <a:prstGeom prst="roundRect">
            <a:avLst>
              <a:gd name="adj" fmla="val 9756"/>
            </a:avLst>
          </a:prstGeom>
          <a:solidFill>
            <a:srgbClr val="15151D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327355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F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room_members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00400" y="327355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PK: id | FK: room_id, user_id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09360" y="327355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 (admin/member), joined_at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3995928"/>
            <a:ext cx="10728655" cy="749808"/>
          </a:xfrm>
          <a:prstGeom prst="roundRect">
            <a:avLst>
              <a:gd name="adj" fmla="val 9756"/>
            </a:avLst>
          </a:prstGeom>
          <a:solidFill>
            <a:srgbClr val="15151D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413308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F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mood_checkins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200400" y="41330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PK: id | FK: room_id, user_id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09360" y="413308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mood (enum), energy (1-5), note (max 80), created_at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" y="4855464"/>
            <a:ext cx="10728655" cy="749808"/>
          </a:xfrm>
          <a:prstGeom prst="roundRect">
            <a:avLst>
              <a:gd name="adj" fmla="val 9756"/>
            </a:avLst>
          </a:prstGeom>
          <a:solidFill>
            <a:srgbClr val="15151D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5840" y="499262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F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songs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200400" y="499262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PK: id | FK: checkin_id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09360" y="499262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title, artist, link_url, position (1-3)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31520" y="5806440"/>
            <a:ext cx="10728655" cy="411480"/>
          </a:xfrm>
          <a:prstGeom prst="roundRect">
            <a:avLst>
              <a:gd name="adj" fmla="val 13333"/>
            </a:avLst>
          </a:prstGeom>
          <a:solidFill>
            <a:srgbClr val="1E1E29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5806440"/>
            <a:ext cx="10362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F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Third Normal Form (3NF) Certified: Resolves M:N user-room relationship via junction table room_members. Zero redundant columns. Cascading deletes on foreign keys.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6FF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BCA-508 MINOR PROJECT PRESENTATION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5F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 Vibe Score Algorithm &amp; Mathematical Proof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10728655" cy="18288"/>
          </a:xfrm>
          <a:prstGeom prst="rect">
            <a:avLst/>
          </a:prstGeom>
          <a:solidFill>
            <a:srgbClr val="2A2A3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3550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VibeCheck Rooms • Gaurav Singh (Roll No. 240919106084) • IMS Noida (CCSU)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0" y="6355080"/>
            <a:ext cx="2773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8 of 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371600"/>
            <a:ext cx="10728655" cy="1417320"/>
          </a:xfrm>
          <a:prstGeom prst="roundRect">
            <a:avLst>
              <a:gd name="adj" fmla="val 6452"/>
            </a:avLst>
          </a:prstGeom>
          <a:solidFill>
            <a:srgbClr val="15151D"/>
          </a:solidFill>
          <a:ln w="19050">
            <a:solidFill>
              <a:srgbClr val="C6FF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554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Mathematical Formula (Rolling 24-Hour Scope)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1874520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Vibe Score = round( sum(Mood Scores of Active Members) / Number of Active Members )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005840" y="2331720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Dominant Mood: Highest frequency mood among active members. Tie-breaker: most recent submission timestamp.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2971800"/>
            <a:ext cx="6217920" cy="3154680"/>
          </a:xfrm>
          <a:prstGeom prst="roundRect">
            <a:avLst>
              <a:gd name="adj" fmla="val 2899"/>
            </a:avLst>
          </a:prstGeom>
          <a:solidFill>
            <a:srgbClr val="15151D"/>
          </a:solidFill>
          <a:ln w="15240">
            <a:solidFill>
              <a:srgbClr val="2A2A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15468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Worked Example Test Case: Room "Late Night Crew"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005840" y="3611880"/>
            <a:ext cx="5669280" cy="438912"/>
          </a:xfrm>
          <a:prstGeom prst="roundRect">
            <a:avLst>
              <a:gd name="adj" fmla="val 12500"/>
            </a:avLst>
          </a:prstGeom>
          <a:solidFill>
            <a:srgbClr val="1E1E29"/>
          </a:solidFill>
          <a:ln w="10160">
            <a:solidFill>
              <a:srgbClr val="2A2A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88720" y="3611880"/>
            <a:ext cx="5303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Rahul: </a:t>
            </a:r>
            <a:pPr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Mood: Chill  •  </a:t>
            </a:r>
            <a:pPr indent="0" marL="0">
              <a:buNone/>
            </a:pPr>
            <a:r>
              <a:rPr lang="en-US" sz="1100" b="1" dirty="0">
                <a:solidFill>
                  <a:srgbClr val="C6FF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Score: 70  •  </a:t>
            </a:r>
            <a:pPr indent="0" marL="0">
              <a:buNone/>
            </a:pPr>
            <a:r>
              <a:rPr lang="en-US" sz="1100" dirty="0">
                <a:solidFill>
                  <a:srgbClr val="FFB0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Energy: 3 / 5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005840" y="4142232"/>
            <a:ext cx="5669280" cy="438912"/>
          </a:xfrm>
          <a:prstGeom prst="roundRect">
            <a:avLst>
              <a:gd name="adj" fmla="val 12500"/>
            </a:avLst>
          </a:prstGeom>
          <a:solidFill>
            <a:srgbClr val="1E1E29"/>
          </a:solidFill>
          <a:ln w="10160">
            <a:solidFill>
              <a:srgbClr val="2A2A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8720" y="4142232"/>
            <a:ext cx="5303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Aman: </a:t>
            </a:r>
            <a:pPr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Mood: Hyped  •  </a:t>
            </a:r>
            <a:pPr indent="0" marL="0">
              <a:buNone/>
            </a:pPr>
            <a:r>
              <a:rPr lang="en-US" sz="1100" b="1" dirty="0">
                <a:solidFill>
                  <a:srgbClr val="C6FF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Score: 85  •  </a:t>
            </a:r>
            <a:pPr indent="0" marL="0">
              <a:buNone/>
            </a:pPr>
            <a:r>
              <a:rPr lang="en-US" sz="1100" dirty="0">
                <a:solidFill>
                  <a:srgbClr val="FFB0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Energy: 5 / 5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005840" y="4672584"/>
            <a:ext cx="5669280" cy="438912"/>
          </a:xfrm>
          <a:prstGeom prst="roundRect">
            <a:avLst>
              <a:gd name="adj" fmla="val 12500"/>
            </a:avLst>
          </a:prstGeom>
          <a:solidFill>
            <a:srgbClr val="1E1E29"/>
          </a:solidFill>
          <a:ln w="10160">
            <a:solidFill>
              <a:srgbClr val="2A2A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88720" y="4672584"/>
            <a:ext cx="5303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Rohit: </a:t>
            </a:r>
            <a:pPr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Mood: Happy  •  </a:t>
            </a:r>
            <a:pPr indent="0" marL="0">
              <a:buNone/>
            </a:pPr>
            <a:r>
              <a:rPr lang="en-US" sz="1100" b="1" dirty="0">
                <a:solidFill>
                  <a:srgbClr val="C6FF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Score: 90  •  </a:t>
            </a:r>
            <a:pPr indent="0" marL="0">
              <a:buNone/>
            </a:pPr>
            <a:r>
              <a:rPr lang="en-US" sz="1100" dirty="0">
                <a:solidFill>
                  <a:srgbClr val="FFB0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Energy: 4 / 5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1005840" y="5202936"/>
            <a:ext cx="5669280" cy="438912"/>
          </a:xfrm>
          <a:prstGeom prst="roundRect">
            <a:avLst>
              <a:gd name="adj" fmla="val 12500"/>
            </a:avLst>
          </a:prstGeom>
          <a:solidFill>
            <a:srgbClr val="1E1E29"/>
          </a:solidFill>
          <a:ln w="10160">
            <a:solidFill>
              <a:srgbClr val="2A2A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88720" y="5202936"/>
            <a:ext cx="5303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Gaurav: </a:t>
            </a:r>
            <a:pPr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Mood: Chill  •  </a:t>
            </a:r>
            <a:pPr indent="0" marL="0">
              <a:buNone/>
            </a:pPr>
            <a:r>
              <a:rPr lang="en-US" sz="1100" b="1" dirty="0">
                <a:solidFill>
                  <a:srgbClr val="C6FF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Score: 70  •  </a:t>
            </a:r>
            <a:pPr indent="0" marL="0">
              <a:buNone/>
            </a:pPr>
            <a:r>
              <a:rPr lang="en-US" sz="1100" dirty="0">
                <a:solidFill>
                  <a:srgbClr val="FFB0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Energy: 3 / 5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132320" y="2971800"/>
            <a:ext cx="4327855" cy="3154680"/>
          </a:xfrm>
          <a:prstGeom prst="roundRect">
            <a:avLst>
              <a:gd name="adj" fmla="val 2899"/>
            </a:avLst>
          </a:prstGeom>
          <a:solidFill>
            <a:srgbClr val="1E1E29"/>
          </a:solidFill>
          <a:ln w="19050">
            <a:solidFill>
              <a:srgbClr val="C6FF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06640" y="3200400"/>
            <a:ext cx="3779215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6FF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CALCULATED OUTPUT:
</a:t>
            </a:r>
            <a:pPr indent="0" marL="0">
              <a:buNone/>
            </a:pPr>
            <a:r>
              <a:rPr lang="en-US" sz="1200" dirty="0">
                <a:solidFill>
                  <a:srgbClr val="F5F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Total Mood Score: 315
</a:t>
            </a:r>
            <a:pPr indent="0" marL="0">
              <a:buNone/>
            </a:pPr>
            <a:r>
              <a:rPr lang="en-US" sz="1200" dirty="0">
                <a:solidFill>
                  <a:srgbClr val="F5F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Active Members: 4
</a:t>
            </a:r>
            <a:pPr indent="0" marL="0">
              <a:buNone/>
            </a:pPr>
            <a:r>
              <a:rPr lang="en-US" sz="1200" dirty="0">
                <a:solidFill>
                  <a:srgbClr val="F5F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Calculation: 315 / 4 = 78.75
</a:t>
            </a:r>
            <a:pPr indent="0" marL="0">
              <a:buNone/>
            </a:pPr>
            <a:r>
              <a:rPr lang="en-US" sz="1400" b="1" dirty="0">
                <a:solidFill>
                  <a:srgbClr val="C6FF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Final Score: 79 (Good vibes)
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Dominant Mood: Chill (2 of 4)
</a:t>
            </a:r>
            <a:pPr indent="0" marL="0">
              <a:buNone/>
            </a:pPr>
            <a:r>
              <a:rPr lang="en-US" sz="1200" dirty="0">
                <a:solidFill>
                  <a:srgbClr val="FFB0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Average Energy: 3.8 / 5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6FF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BCA-508 MINOR PROJECT PRESENTATION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5F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8. User Interface Design &amp; Key Pages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10728655" cy="18288"/>
          </a:xfrm>
          <a:prstGeom prst="rect">
            <a:avLst/>
          </a:prstGeom>
          <a:solidFill>
            <a:srgbClr val="2A2A3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3550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VibeCheck Rooms • Gaurav Singh (Roll No. 240919106084) • IMS Noida (CCSU)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0" y="6355080"/>
            <a:ext cx="2773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9 of 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417320"/>
            <a:ext cx="10728655" cy="804672"/>
          </a:xfrm>
          <a:prstGeom prst="roundRect">
            <a:avLst>
              <a:gd name="adj" fmla="val 9091"/>
            </a:avLst>
          </a:prstGeom>
          <a:solidFill>
            <a:srgbClr val="15151D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5544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FF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Landing / Home Page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0" y="1581912"/>
            <a:ext cx="18288" cy="475488"/>
          </a:xfrm>
          <a:prstGeom prst="rect">
            <a:avLst/>
          </a:prstGeom>
          <a:solidFill>
            <a:srgbClr val="2A2A38"/>
          </a:solidFill>
          <a:ln/>
        </p:spPr>
      </p:sp>
      <p:sp>
        <p:nvSpPr>
          <p:cNvPr id="10" name="Text 8"/>
          <p:cNvSpPr/>
          <p:nvPr/>
        </p:nvSpPr>
        <p:spPr>
          <a:xfrm>
            <a:off x="4526280" y="155448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Hero headline "What’s the vibe today?", room code entry, how-it-works cards, and interactive demo preview.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2350008"/>
            <a:ext cx="10728655" cy="804672"/>
          </a:xfrm>
          <a:prstGeom prst="roundRect">
            <a:avLst>
              <a:gd name="adj" fmla="val 9091"/>
            </a:avLst>
          </a:prstGeom>
          <a:solidFill>
            <a:srgbClr val="15151D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248716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FF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Login &amp; Sign-up Modal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43400" y="2514600"/>
            <a:ext cx="18288" cy="475488"/>
          </a:xfrm>
          <a:prstGeom prst="rect">
            <a:avLst/>
          </a:prstGeom>
          <a:solidFill>
            <a:srgbClr val="2A2A38"/>
          </a:solidFill>
          <a:ln/>
        </p:spPr>
      </p:sp>
      <p:sp>
        <p:nvSpPr>
          <p:cNvPr id="14" name="Text 12"/>
          <p:cNvSpPr/>
          <p:nvPr/>
        </p:nvSpPr>
        <p:spPr>
          <a:xfrm>
            <a:off x="4526280" y="2487168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Instant authentication, inline validation, and 1-click fast-track demo login for examiners.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3282696"/>
            <a:ext cx="10728655" cy="804672"/>
          </a:xfrm>
          <a:prstGeom prst="roundRect">
            <a:avLst>
              <a:gd name="adj" fmla="val 9091"/>
            </a:avLst>
          </a:prstGeom>
          <a:solidFill>
            <a:srgbClr val="15151D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341985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FF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Room Dashboard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343400" y="3447288"/>
            <a:ext cx="18288" cy="475488"/>
          </a:xfrm>
          <a:prstGeom prst="rect">
            <a:avLst/>
          </a:prstGeom>
          <a:solidFill>
            <a:srgbClr val="2A2A38"/>
          </a:solidFill>
          <a:ln/>
        </p:spPr>
      </p:sp>
      <p:sp>
        <p:nvSpPr>
          <p:cNvPr id="18" name="Text 16"/>
          <p:cNvSpPr/>
          <p:nvPr/>
        </p:nvSpPr>
        <p:spPr>
          <a:xfrm>
            <a:off x="4526280" y="3419856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Hero VibeMeter (0-100), 8-mood checkin form, energy selector, mood-mix chart, and shared playlist.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4215384"/>
            <a:ext cx="10728655" cy="804672"/>
          </a:xfrm>
          <a:prstGeom prst="roundRect">
            <a:avLst>
              <a:gd name="adj" fmla="val 9091"/>
            </a:avLst>
          </a:prstGeom>
          <a:solidFill>
            <a:srgbClr val="15151D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435254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FF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Admin Moderation Panel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43400" y="4379976"/>
            <a:ext cx="18288" cy="475488"/>
          </a:xfrm>
          <a:prstGeom prst="rect">
            <a:avLst/>
          </a:prstGeom>
          <a:solidFill>
            <a:srgbClr val="2A2A38"/>
          </a:solidFill>
          <a:ln/>
        </p:spPr>
      </p:sp>
      <p:sp>
        <p:nvSpPr>
          <p:cNvPr id="22" name="Text 20"/>
          <p:cNvSpPr/>
          <p:nvPr/>
        </p:nvSpPr>
        <p:spPr>
          <a:xfrm>
            <a:off x="4526280" y="4352544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Room statistics, member removal, 6-character code regeneration, check-in deletion, and room archiving.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" y="5148072"/>
            <a:ext cx="10728655" cy="804672"/>
          </a:xfrm>
          <a:prstGeom prst="roundRect">
            <a:avLst>
              <a:gd name="adj" fmla="val 9091"/>
            </a:avLst>
          </a:prstGeom>
          <a:solidFill>
            <a:srgbClr val="15151D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5840" y="528523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FF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Room History Page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343400" y="5312664"/>
            <a:ext cx="18288" cy="475488"/>
          </a:xfrm>
          <a:prstGeom prst="rect">
            <a:avLst/>
          </a:prstGeom>
          <a:solidFill>
            <a:srgbClr val="2A2A38"/>
          </a:solidFill>
          <a:ln/>
        </p:spPr>
      </p:sp>
      <p:sp>
        <p:nvSpPr>
          <p:cNvPr id="26" name="Text 24"/>
          <p:cNvSpPr/>
          <p:nvPr/>
        </p:nvSpPr>
        <p:spPr>
          <a:xfrm>
            <a:off x="4526280" y="5285232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Chronological archive of past check-ins, member notes, and attached songs with timestamp tracking.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6FF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BCA-508 MINOR PROJECT PRESENTATION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5F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9. Role-Based Moderation &amp; Admin System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10728655" cy="18288"/>
          </a:xfrm>
          <a:prstGeom prst="rect">
            <a:avLst/>
          </a:prstGeom>
          <a:solidFill>
            <a:srgbClr val="2A2A3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3550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VibeCheck Rooms • Gaurav Singh (Roll No. 240919106084) • IMS Noida (CCSU)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0" y="6355080"/>
            <a:ext cx="2773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10 of 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417320"/>
            <a:ext cx="10728655" cy="804672"/>
          </a:xfrm>
          <a:prstGeom prst="roundRect">
            <a:avLst>
              <a:gd name="adj" fmla="val 9091"/>
            </a:avLst>
          </a:prstGeom>
          <a:solidFill>
            <a:srgbClr val="15151D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5544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D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Server-Enforced RBAC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0" y="1581912"/>
            <a:ext cx="18288" cy="475488"/>
          </a:xfrm>
          <a:prstGeom prst="rect">
            <a:avLst/>
          </a:prstGeom>
          <a:solidFill>
            <a:srgbClr val="2A2A38"/>
          </a:solidFill>
          <a:ln/>
        </p:spPr>
      </p:sp>
      <p:sp>
        <p:nvSpPr>
          <p:cNvPr id="10" name="Text 8"/>
          <p:cNvSpPr/>
          <p:nvPr/>
        </p:nvSpPr>
        <p:spPr>
          <a:xfrm>
            <a:off x="4526280" y="155448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Routes /api/rooms/:id/stats and moderation endpoints strictly verify role in room_members table. Non-admins receive HTTP 403 Forbidden.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2350008"/>
            <a:ext cx="10728655" cy="804672"/>
          </a:xfrm>
          <a:prstGeom prst="roundRect">
            <a:avLst>
              <a:gd name="adj" fmla="val 9091"/>
            </a:avLst>
          </a:prstGeom>
          <a:solidFill>
            <a:srgbClr val="15151D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248716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D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Statistics Telemetry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43400" y="2514600"/>
            <a:ext cx="18288" cy="475488"/>
          </a:xfrm>
          <a:prstGeom prst="rect">
            <a:avLst/>
          </a:prstGeom>
          <a:solidFill>
            <a:srgbClr val="2A2A38"/>
          </a:solidFill>
          <a:ln/>
        </p:spPr>
      </p:sp>
      <p:sp>
        <p:nvSpPr>
          <p:cNvPr id="14" name="Text 12"/>
          <p:cNvSpPr/>
          <p:nvPr/>
        </p:nvSpPr>
        <p:spPr>
          <a:xfrm>
            <a:off x="4526280" y="2487168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Instant visibility over total members, check-ins, shared playlist tracks, and members active in the last 24 hours.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3282696"/>
            <a:ext cx="10728655" cy="804672"/>
          </a:xfrm>
          <a:prstGeom prst="roundRect">
            <a:avLst>
              <a:gd name="adj" fmla="val 9091"/>
            </a:avLst>
          </a:prstGeom>
          <a:solidFill>
            <a:srgbClr val="15151D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341985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D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Cascading Member Removal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343400" y="3447288"/>
            <a:ext cx="18288" cy="475488"/>
          </a:xfrm>
          <a:prstGeom prst="rect">
            <a:avLst/>
          </a:prstGeom>
          <a:solidFill>
            <a:srgbClr val="2A2A38"/>
          </a:solidFill>
          <a:ln/>
        </p:spPr>
      </p:sp>
      <p:sp>
        <p:nvSpPr>
          <p:cNvPr id="18" name="Text 16"/>
          <p:cNvSpPr/>
          <p:nvPr/>
        </p:nvSpPr>
        <p:spPr>
          <a:xfrm>
            <a:off x="4526280" y="3419856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Removing a member deletes their check-ins and songs, preventing orphan records and preserving clean vibe scores.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4215384"/>
            <a:ext cx="10728655" cy="804672"/>
          </a:xfrm>
          <a:prstGeom prst="roundRect">
            <a:avLst>
              <a:gd name="adj" fmla="val 9091"/>
            </a:avLst>
          </a:prstGeom>
          <a:solidFill>
            <a:srgbClr val="15151D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435254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D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Invite Code Invalidation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43400" y="4379976"/>
            <a:ext cx="18288" cy="475488"/>
          </a:xfrm>
          <a:prstGeom prst="rect">
            <a:avLst/>
          </a:prstGeom>
          <a:solidFill>
            <a:srgbClr val="2A2A38"/>
          </a:solidFill>
          <a:ln/>
        </p:spPr>
      </p:sp>
      <p:sp>
        <p:nvSpPr>
          <p:cNvPr id="22" name="Text 20"/>
          <p:cNvSpPr/>
          <p:nvPr/>
        </p:nvSpPr>
        <p:spPr>
          <a:xfrm>
            <a:off x="4526280" y="4352544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One-click code regeneration instantly terminates compromised or old room codes and creates a fresh 6-character token.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" y="5148072"/>
            <a:ext cx="10728655" cy="804672"/>
          </a:xfrm>
          <a:prstGeom prst="roundRect">
            <a:avLst>
              <a:gd name="adj" fmla="val 9091"/>
            </a:avLst>
          </a:prstGeom>
          <a:solidFill>
            <a:srgbClr val="15151D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5840" y="528523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D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Room Archival (Danger Zone)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343400" y="5312664"/>
            <a:ext cx="18288" cy="475488"/>
          </a:xfrm>
          <a:prstGeom prst="rect">
            <a:avLst/>
          </a:prstGeom>
          <a:solidFill>
            <a:srgbClr val="2A2A38"/>
          </a:solidFill>
          <a:ln/>
        </p:spPr>
      </p:sp>
      <p:sp>
        <p:nvSpPr>
          <p:cNvPr id="26" name="Text 24"/>
          <p:cNvSpPr/>
          <p:nvPr/>
        </p:nvSpPr>
        <p:spPr>
          <a:xfrm>
            <a:off x="4526280" y="5285232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Admins can close the room. Closed rooms prevent new member joins and disable check-in posting permanently.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6FF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BCA-508 MINOR PROJECT PRESENTATION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5F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10. Technical Requirements &amp; Deployment Stack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10728655" cy="18288"/>
          </a:xfrm>
          <a:prstGeom prst="rect">
            <a:avLst/>
          </a:prstGeom>
          <a:solidFill>
            <a:srgbClr val="2A2A3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3550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VibeCheck Rooms • Gaurav Singh (Roll No. 240919106084) • IMS Noida (CCSU)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0" y="6355080"/>
            <a:ext cx="2773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11 of 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371600"/>
            <a:ext cx="5212080" cy="4754880"/>
          </a:xfrm>
          <a:prstGeom prst="roundRect">
            <a:avLst>
              <a:gd name="adj" fmla="val 1923"/>
            </a:avLst>
          </a:prstGeom>
          <a:solidFill>
            <a:srgbClr val="15151D"/>
          </a:solidFill>
          <a:ln w="19050">
            <a:solidFill>
              <a:srgbClr val="2A2A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6002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Software &amp; Development Stack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2011680"/>
            <a:ext cx="46634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5F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Operating System: </a:t>
            </a:r>
            <a:pPr indent="0" marL="0">
              <a:buNone/>
            </a:pPr>
            <a:r>
              <a:rPr lang="en-US" sz="1100" dirty="0">
                <a:solidFill>
                  <a:srgbClr val="A1A1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Windows 10/11 / Linux (Ubuntu 22.04)
</a:t>
            </a:r>
            <a:pPr indent="0" marL="0">
              <a:buNone/>
            </a:pPr>
            <a:r>
              <a:rPr lang="en-US" sz="1150" b="1" dirty="0">
                <a:solidFill>
                  <a:srgbClr val="F5F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Runtime &amp; Backend: </a:t>
            </a:r>
            <a:pPr indent="0" marL="0">
              <a:buNone/>
            </a:pPr>
            <a:r>
              <a:rPr lang="en-US" sz="1100" dirty="0">
                <a:solidFill>
                  <a:srgbClr val="A1A1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Node.js 20/24 LTS, Express 5, TypeScript
</a:t>
            </a:r>
            <a:pPr indent="0" marL="0">
              <a:buNone/>
            </a:pPr>
            <a:r>
              <a:rPr lang="en-US" sz="1150" b="1" dirty="0">
                <a:solidFill>
                  <a:srgbClr val="F5F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Frontend: </a:t>
            </a:r>
            <a:pPr indent="0" marL="0">
              <a:buNone/>
            </a:pPr>
            <a:r>
              <a:rPr lang="en-US" sz="1100" dirty="0">
                <a:solidFill>
                  <a:srgbClr val="A1A1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19, Vite, Tailwind CSS v4, Lucide Icons
</a:t>
            </a:r>
            <a:pPr indent="0" marL="0">
              <a:buNone/>
            </a:pPr>
            <a:r>
              <a:rPr lang="en-US" sz="1150" b="1" dirty="0">
                <a:solidFill>
                  <a:srgbClr val="F5F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Database &amp; Auth: </a:t>
            </a:r>
            <a:pPr indent="0" marL="0">
              <a:buNone/>
            </a:pPr>
            <a:r>
              <a:rPr lang="en-US" sz="1100" dirty="0">
                <a:solidFill>
                  <a:srgbClr val="A1A1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Supabase PostgreSQL, Supabase Auth (JWT)
</a:t>
            </a:r>
            <a:pPr indent="0" marL="0">
              <a:buNone/>
            </a:pPr>
            <a:r>
              <a:rPr lang="en-US" sz="1150" b="1" dirty="0">
                <a:solidFill>
                  <a:srgbClr val="F5F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Testing &amp; Tools: </a:t>
            </a:r>
            <a:pPr indent="0" marL="0">
              <a:buNone/>
            </a:pPr>
            <a:r>
              <a:rPr lang="en-US" sz="1100" dirty="0">
                <a:solidFill>
                  <a:srgbClr val="A1A1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Vitest, Supertest, VS Code, Git &amp; GitHub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48095" y="1371600"/>
            <a:ext cx="5212080" cy="4754880"/>
          </a:xfrm>
          <a:prstGeom prst="roundRect">
            <a:avLst>
              <a:gd name="adj" fmla="val 1923"/>
            </a:avLst>
          </a:prstGeom>
          <a:solidFill>
            <a:srgbClr val="15151D"/>
          </a:solidFill>
          <a:ln w="19050">
            <a:solidFill>
              <a:srgbClr val="2A2A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22415" y="16002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FF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 Infrastructure (Rs. 0 Cost)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22415" y="2011680"/>
            <a:ext cx="46634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5F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Frontend Hosting: Vercel / GitHub Pages
</a:t>
            </a:r>
            <a:pPr indent="0" marL="0">
              <a:buNone/>
            </a:pPr>
            <a:r>
              <a:rPr lang="en-US" sz="1050" dirty="0">
                <a:solidFill>
                  <a:srgbClr val="A1A1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Global edge deployment with automatic SSL.
Cost: Rs. 0
</a:t>
            </a:r>
            <a:pPr indent="0" marL="0">
              <a:buNone/>
            </a:pPr>
            <a:r>
              <a:rPr lang="en-US" sz="1150" b="1" dirty="0">
                <a:solidFill>
                  <a:srgbClr val="F5F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API Hosting: Render Free Tier
</a:t>
            </a:r>
            <a:pPr indent="0" marL="0">
              <a:buNone/>
            </a:pPr>
            <a:r>
              <a:rPr lang="en-US" sz="1050" dirty="0">
                <a:solidFill>
                  <a:srgbClr val="A1A1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Node.js container with health checks (/api/health).
Cost: Rs. 0
</a:t>
            </a:r>
            <a:pPr indent="0" marL="0">
              <a:buNone/>
            </a:pPr>
            <a:r>
              <a:rPr lang="en-US" sz="1150" b="1" dirty="0">
                <a:solidFill>
                  <a:srgbClr val="F5F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Managed Database: Supabase Cloud
</a:t>
            </a:r>
            <a:pPr indent="0" marL="0">
              <a:buNone/>
            </a:pPr>
            <a:r>
              <a:rPr lang="en-US" sz="1050" dirty="0">
                <a:solidFill>
                  <a:srgbClr val="A1A1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 instance with automated backups.
Cost: Rs. 0
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522415" y="5212080"/>
            <a:ext cx="4663440" cy="685800"/>
          </a:xfrm>
          <a:prstGeom prst="roundRect">
            <a:avLst>
              <a:gd name="adj" fmla="val 10667"/>
            </a:avLst>
          </a:prstGeom>
          <a:solidFill>
            <a:srgbClr val="1E1E29"/>
          </a:solidFill>
          <a:ln w="19050">
            <a:solidFill>
              <a:srgbClr val="C6FF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22415" y="521208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6FF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INFRASTRUCTURE EXPENSE: Rs. 0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6FF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BCA-508 MINOR PROJECT PRESENTATION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5F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11. Limitations &amp; Future Scope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10728655" cy="18288"/>
          </a:xfrm>
          <a:prstGeom prst="rect">
            <a:avLst/>
          </a:prstGeom>
          <a:solidFill>
            <a:srgbClr val="2A2A3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3550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VibeCheck Rooms • Gaurav Singh (Roll No. 240919106084) • IMS Noida (CCSU)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0" y="6355080"/>
            <a:ext cx="2773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12 of 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371600"/>
            <a:ext cx="5212080" cy="4754880"/>
          </a:xfrm>
          <a:prstGeom prst="roundRect">
            <a:avLst>
              <a:gd name="adj" fmla="val 1923"/>
            </a:avLst>
          </a:prstGeom>
          <a:solidFill>
            <a:srgbClr val="15151D"/>
          </a:solidFill>
          <a:ln w="19050">
            <a:solidFill>
              <a:srgbClr val="2A2A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6002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4D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Current Project Limitations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2011680"/>
            <a:ext cx="46634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5F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Free-Tier Spin Down:
</a:t>
            </a:r>
            <a:pPr indent="0" marL="0">
              <a:buNone/>
            </a:pPr>
            <a:r>
              <a:rPr lang="en-US" sz="1100" dirty="0">
                <a:solidFill>
                  <a:srgbClr val="A1A1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Render free services sleep after 15 min idle; cold start takes ~50 seconds.
</a:t>
            </a:r>
            <a:pPr indent="0" marL="0">
              <a:buNone/>
            </a:pPr>
            <a:r>
              <a:rPr lang="en-US" sz="1200" b="1" dirty="0">
                <a:solidFill>
                  <a:srgbClr val="F5F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Manual Music Linking:
</a:t>
            </a:r>
            <a:pPr indent="0" marL="0">
              <a:buNone/>
            </a:pPr>
            <a:r>
              <a:rPr lang="en-US" sz="1100" dirty="0">
                <a:solidFill>
                  <a:srgbClr val="A1A1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Songs are stored as metadata and links; no embedded streaming player.
</a:t>
            </a:r>
            <a:pPr indent="0" marL="0">
              <a:buNone/>
            </a:pPr>
            <a:r>
              <a:rPr lang="en-US" sz="1200" b="1" dirty="0">
                <a:solidFill>
                  <a:srgbClr val="F5F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20-Second Polling:
</a:t>
            </a:r>
            <a:pPr indent="0" marL="0">
              <a:buNone/>
            </a:pPr>
            <a:r>
              <a:rPr lang="en-US" sz="1100" dirty="0">
                <a:solidFill>
                  <a:srgbClr val="A1A1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Near real-time refresh rather than WebSocket push streams.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48095" y="1371600"/>
            <a:ext cx="5212080" cy="4754880"/>
          </a:xfrm>
          <a:prstGeom prst="roundRect">
            <a:avLst>
              <a:gd name="adj" fmla="val 1923"/>
            </a:avLst>
          </a:prstGeom>
          <a:solidFill>
            <a:srgbClr val="15151D"/>
          </a:solidFill>
          <a:ln w="19050">
            <a:solidFill>
              <a:srgbClr val="2A2A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22415" y="16002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FF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 Roadmap &amp; Enhancements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22415" y="2011680"/>
            <a:ext cx="46634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5F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Spotify Web API Integration:
</a:t>
            </a:r>
            <a:pPr indent="0" marL="0">
              <a:buNone/>
            </a:pPr>
            <a:r>
              <a:rPr lang="en-US" sz="1100" dirty="0">
                <a:solidFill>
                  <a:srgbClr val="A1A1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track catalog, display album art, and play 30s previews directly.
</a:t>
            </a:r>
            <a:pPr indent="0" marL="0">
              <a:buNone/>
            </a:pPr>
            <a:r>
              <a:rPr lang="en-US" sz="1200" b="1" dirty="0">
                <a:solidFill>
                  <a:srgbClr val="F5F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WebSockets / Supabase Realtime:
</a:t>
            </a:r>
            <a:pPr indent="0" marL="0">
              <a:buNone/>
            </a:pPr>
            <a:r>
              <a:rPr lang="en-US" sz="1100" dirty="0">
                <a:solidFill>
                  <a:srgbClr val="A1A1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Instant bi-directional vibe updates with zero polling latency.
</a:t>
            </a:r>
            <a:pPr indent="0" marL="0">
              <a:buNone/>
            </a:pPr>
            <a:r>
              <a:rPr lang="en-US" sz="1200" b="1" dirty="0">
                <a:solidFill>
                  <a:srgbClr val="F5F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AI Mood Insights &amp; Weekly Recaps:
</a:t>
            </a:r>
            <a:pPr indent="0" marL="0">
              <a:buNone/>
            </a:pPr>
            <a:r>
              <a:rPr lang="en-US" sz="1100" dirty="0">
                <a:solidFill>
                  <a:srgbClr val="A1A1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Analyze trends over time (e.g. "Your room is happiest on Fridays!").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6FF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BCA-508 MINOR PROJECT PRESENTATION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5F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12. Live Demonstration &amp; Verification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10728655" cy="18288"/>
          </a:xfrm>
          <a:prstGeom prst="rect">
            <a:avLst/>
          </a:prstGeom>
          <a:solidFill>
            <a:srgbClr val="2A2A3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3550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VibeCheck Rooms • Gaurav Singh (Roll No. 240919106084) • IMS Noida (CCSU)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0" y="6355080"/>
            <a:ext cx="2773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13 of 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371600"/>
            <a:ext cx="10728655" cy="4754880"/>
          </a:xfrm>
          <a:prstGeom prst="roundRect">
            <a:avLst>
              <a:gd name="adj" fmla="val 1923"/>
            </a:avLst>
          </a:prstGeom>
          <a:solidFill>
            <a:srgbClr val="15151D"/>
          </a:solidFill>
          <a:ln w="22860">
            <a:solidFill>
              <a:srgbClr val="C6FF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60020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6FF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Examiner Fast-Track Review Credentials &amp; Live Demo Guide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05840" y="2057400"/>
            <a:ext cx="10149840" cy="594360"/>
          </a:xfrm>
          <a:prstGeom prst="roundRect">
            <a:avLst>
              <a:gd name="adj" fmla="val 12308"/>
            </a:avLst>
          </a:prstGeom>
          <a:solidFill>
            <a:srgbClr val="1E1E29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2057400"/>
            <a:ext cx="9784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Seeded Demo Room: </a:t>
            </a:r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“Late Night Crew”    |    </a:t>
            </a:r>
            <a:pPr indent="0" marL="0">
              <a:buNone/>
            </a:pPr>
            <a:r>
              <a:rPr lang="en-US" sz="1200" b="1" dirty="0">
                <a:solidFill>
                  <a:srgbClr val="F5F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Room Invite Code: </a:t>
            </a:r>
            <a:pPr indent="0" marL="0">
              <a:buNone/>
            </a:pPr>
            <a:r>
              <a:rPr lang="en-US" sz="1400" b="1" dirty="0">
                <a:solidFill>
                  <a:srgbClr val="C6FF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K7P2QX    |    </a:t>
            </a:r>
            <a:pPr indent="0" marL="0">
              <a:buNone/>
            </a:pPr>
            <a:r>
              <a:rPr lang="en-US" sz="1200" b="1" dirty="0">
                <a:solidFill>
                  <a:srgbClr val="F5F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Link: </a:t>
            </a:r>
            <a:pPr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https://gauravsingh08112005-ai.github.io/VibeCheck/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2834640"/>
            <a:ext cx="101498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5F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Member Walkthrough:
</a:t>
            </a:r>
            <a:pPr indent="0" marL="0">
              <a:buNone/>
            </a:pPr>
            <a:r>
              <a:rPr lang="en-US" sz="1150" dirty="0">
                <a:solidFill>
                  <a:srgbClr val="A1A1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Click "Demo Member (Rahul)" on the login modal to view the room, see the 79 Good vibes score, post a new check-in with songs, and inspect the shared playlist.
</a:t>
            </a:r>
            <a:pPr indent="0" marL="0">
              <a:buNone/>
            </a:pPr>
            <a:r>
              <a:rPr lang="en-US" sz="1250" b="1" dirty="0">
                <a:solidFill>
                  <a:srgbClr val="F5F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Admin Walkthrough:
</a:t>
            </a:r>
            <a:pPr indent="0" marL="0">
              <a:buNone/>
            </a:pPr>
            <a:r>
              <a:rPr lang="en-US" sz="1150" dirty="0">
                <a:solidFill>
                  <a:srgbClr val="A1A1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Click "Demo Admin (Gaurav)" to open the Admin Panel, view room statistics (42 check-ins, 96 songs), regenerate the room code, delete spam, or close the room.
</a:t>
            </a:r>
            <a:pPr indent="0" marL="0">
              <a:buNone/>
            </a:pPr>
            <a:r>
              <a:rPr lang="en-US" sz="1250" b="1" dirty="0">
                <a:solidFill>
                  <a:srgbClr val="F5F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Automated Unit Tests:
</a:t>
            </a:r>
            <a:pPr indent="0" marL="0">
              <a:buNone/>
            </a:pPr>
            <a:r>
              <a:rPr lang="en-US" sz="1150" dirty="0">
                <a:solidFill>
                  <a:srgbClr val="A1A1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npm test in the server directory to verify the 315/4 = 79 worked example unit tests pass cleanly with 100% test coverage.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07286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6FF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YOU!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196596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F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 &amp; Answers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011680" y="2743200"/>
            <a:ext cx="8168335" cy="3291840"/>
          </a:xfrm>
          <a:prstGeom prst="roundRect">
            <a:avLst>
              <a:gd name="adj" fmla="val 2778"/>
            </a:avLst>
          </a:prstGeom>
          <a:solidFill>
            <a:srgbClr val="15151D"/>
          </a:solidFill>
          <a:ln w="19050">
            <a:solidFill>
              <a:srgbClr val="2A2A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0" y="2971800"/>
            <a:ext cx="7619695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F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GAURAV SINGH
</a:t>
            </a:r>
            <a:pPr algn="ctr" indent="0" marL="0">
              <a:buNone/>
            </a:pPr>
            <a:r>
              <a:rPr lang="en-US" sz="135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University Roll No.: 240919106084
</a:t>
            </a:r>
            <a:pPr algn="ctr" indent="0" marL="0">
              <a:buNone/>
            </a:pPr>
            <a:r>
              <a:rPr lang="en-US" sz="1150" dirty="0">
                <a:solidFill>
                  <a:srgbClr val="A1A1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Email: gauravsingh.bcr24079@imsnoida.com  •  Mobile: +91 7289860248
</a:t>
            </a:r>
            <a:pPr algn="ctr" indent="0" marL="0">
              <a:buNone/>
            </a:pPr>
            <a:r>
              <a:rPr lang="en-US" sz="1250" dirty="0">
                <a:solidFill>
                  <a:srgbClr val="F5F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Bachelor of Computer Application (BCA 5th Sem, Batch 2024–27)
</a:t>
            </a:r>
            <a:pPr algn="ctr" indent="0" marL="0">
              <a:buNone/>
            </a:pPr>
            <a:r>
              <a:rPr lang="en-US" sz="1150" dirty="0">
                <a:solidFill>
                  <a:srgbClr val="A1A1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 of Information Technology (SOIT), Institute of Management Studies, Noida
</a:t>
            </a:r>
            <a:pPr algn="ctr" indent="0" marL="0">
              <a:buNone/>
            </a:pPr>
            <a:r>
              <a:rPr lang="en-US" sz="1200" b="1" dirty="0">
                <a:solidFill>
                  <a:srgbClr val="C6FF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Chaudhary Charan Singh University (CCSU), Meerut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2026-10-26T17:34:29Z</dcterms:created>
  <dcterms:modified xsi:type="dcterms:W3CDTF">2026-10-26T17:34:29Z</dcterms:modified>
</cp:coreProperties>
</file>